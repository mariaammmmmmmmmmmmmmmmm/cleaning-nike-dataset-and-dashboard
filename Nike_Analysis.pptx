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000AE-A664-AF1D-6B8E-633FE2495289}" v="94" dt="2026-06-26T18:48:23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103120"/>
            <a:ext cx="393192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Ni</a:t>
            </a:r>
            <a:r>
              <a:rPr lang="en-US" dirty="0"/>
              <a:t>k</a:t>
            </a:r>
            <a:r>
              <a:rPr dirty="0"/>
              <a:t>e Sales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Data Cleaning  •  Aggregation  • 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572000"/>
            <a:ext cx="393192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Nike Sales dataset with 2,500 transactions across 6 Indian cities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4688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  <a:latin typeface="Calibri"/>
              </a:defRPr>
            </a:pPr>
            <a:r>
              <a:t>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4688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4688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Regions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4688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Order_ID  •  Gender_Category  •  Product_Line</a:t>
            </a:r>
            <a:br/>
            <a:r>
              <a:t>Product_Name  •  Size  •  Units_Sold  •  MRP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Discount_Applied  •  Revenue  •  Order_Date</a:t>
            </a:r>
            <a:br/>
            <a:r>
              <a:t>Sales_Channel  •  Region  •  Profit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Problems Found in the Raw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5,283 total data quality issues identified across 9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Inconsistent Region names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bengaluru, Hyd, hyderbad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497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61488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614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Mixed Size column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761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Clothing (M, L, XL) + Shoe sizes in one column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7614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2,500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36976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369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369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Mixed date formats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2369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YYYY-MM-DD, DD-MM-YYYY, YYYY/MM/DD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236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1,884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12464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7124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712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Negative Units 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124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Units_Sold = 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205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87952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Missing &amp; inconsistent MRP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187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Same product, different prices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187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1,254 rows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63440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Missing Discount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66.7% of discounts are NaN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1,668 rows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138928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138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138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Discount over 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138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Values like 1.1, 1.25 (110%-125%)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138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180 rows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614416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6144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6144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Broken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6144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Zeros and negative values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6144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2,387 rows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6089904"/>
            <a:ext cx="36576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60899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60899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Negative Profit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60899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578 rows with losses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089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578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Cleaning: Region Names &amp; Size 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🗺️  Fix Region Names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Problem: Same city with different spellings</a:t>
            </a:r>
            <a:br/>
            <a:br/>
            <a:r>
              <a:t>bengaluru  →  Bangalore</a:t>
            </a:r>
            <a:br/>
            <a:r>
              <a:t>Hyd, hyderbad  →  Hyderabad</a:t>
            </a:r>
            <a:br/>
            <a:br/>
            <a:r>
              <a:t>Method: Dictionary mapping with .replace()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👟  Split Size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Problem: Clothing sizes (M, L, XL) and shoe sizes</a:t>
            </a:r>
            <a:br/>
            <a:r>
              <a:t>(6, 7, 8...) mixed in one column</a:t>
            </a:r>
            <a:br/>
            <a:br/>
            <a:r>
              <a:t>Solution: Split into two new columns:</a:t>
            </a:r>
            <a:br/>
            <a:r>
              <a:t>  • clothing_sizes  (text: M, L, XL)</a:t>
            </a:r>
            <a:br/>
            <a:r>
              <a:t>  • Shoe_Size  (numeric: 6, 7, 8...)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303520" cy="164592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Calibri"/>
              </a:defRPr>
            </a:pPr>
            <a:r>
              <a:t>❌ 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Region: bengaluru, Hyd, hyderbad, Bangalore...</a:t>
            </a:r>
            <a:br/>
            <a:r>
              <a:t>Size: M, 7, L, 11, XL, 9...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572000"/>
            <a:ext cx="53035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✅ 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Region: Bangalore, Hyderabad, Delhi, Mumbai...</a:t>
            </a:r>
            <a:br/>
            <a:r>
              <a:t>clothing_sizes: M, L, XL</a:t>
            </a:r>
            <a:br/>
            <a:r>
              <a:t>Shoe_Size: 6, 7, 8, 9, 10,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Cleaning: Dates &amp; Negative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📅  Fix Mixed Date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Problem: 3 different date formats in the same column</a:t>
            </a:r>
            <a:br/>
            <a:br/>
            <a:r>
              <a:t>  • 2024-03-09  (YYYY-MM-DD)</a:t>
            </a:r>
            <a:br/>
            <a:r>
              <a:t>  • 04-10-2024  (DD-MM-YYYY)</a:t>
            </a:r>
            <a:br/>
            <a:r>
              <a:t>  • 2024/09/12  (YYYY/MM/DD)</a:t>
            </a:r>
            <a:br/>
            <a:br/>
            <a:r>
              <a:t>Solution: pd.to_datetime() with format='mixed'</a:t>
            </a:r>
            <a:br/>
            <a:r>
              <a:t>and dayfirst=True for correct interpretation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035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➖  Fix Negative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Problem: Data entry typos created negative numbers</a:t>
            </a:r>
            <a:br/>
            <a:br/>
            <a:r>
              <a:t>  • Units_Sold: 205 rows with -1</a:t>
            </a:r>
            <a:br/>
            <a:r>
              <a:t>  • Profit: 578 rows with negative values</a:t>
            </a:r>
            <a:br/>
            <a:br/>
            <a:r>
              <a:t>Solution: Convert all negatives to positive</a:t>
            </a:r>
            <a:br/>
            <a:r>
              <a:t>using .abs() — treats them as typos where a</a:t>
            </a:r>
            <a:br/>
            <a:r>
              <a:t>minus sign was accidentally added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Cleaning</a:t>
            </a:r>
            <a:r>
              <a:rPr lang="en-US"/>
              <a:t>:</a:t>
            </a:r>
            <a:r>
              <a:t> MRP </a:t>
            </a:r>
            <a:r>
              <a:rPr lang="en-US"/>
              <a:t> Grouping by (</a:t>
            </a:r>
            <a:r>
              <a:rPr lang="en-US" i="1"/>
              <a:t>Gender, Name, Line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1,254 rows had missing prices + the same product had wildly different prices across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💡  Why not just use the product name?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In the real world, pricing depends on more than just the product name.</a:t>
            </a:r>
            <a:br/>
            <a:r>
              <a:t>An "Air Jordan" for Kids is cheaper than an "Air Jordan" for Men.</a:t>
            </a:r>
            <a:br/>
            <a:br/>
            <a:r>
              <a:t>Solution: Group by 3 columns together — Gender + Product Line + Product Name</a:t>
            </a:r>
            <a:br/>
            <a:r>
              <a:t>Then take the first valid price for each unique combination and apply it to all matching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029200" cy="164592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Calibri"/>
              </a:defRPr>
            </a:pPr>
            <a:r>
              <a:t>❌  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Kids + Training + SuperRep Go → ₹9,671</a:t>
            </a:r>
            <a:br/>
            <a:r>
              <a:t>Kids + Training + SuperRep Go → ₹6,819  (different!)</a:t>
            </a:r>
            <a:br/>
            <a:r>
              <a:t>Men + Training + SuperRep Go → NaN  (missing!)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754880"/>
            <a:ext cx="5029200" cy="16459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✅ 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Kids + Training + SuperRep Go → ₹9,671</a:t>
            </a:r>
            <a:br/>
            <a:r>
              <a:t>Kids + Training + SuperRep Go → ₹9,671  (consistent!)</a:t>
            </a:r>
            <a:br/>
            <a:r>
              <a:t>Men + Training + SuperRep Go → ₹6,820  (filled!)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Cleaning: Reverse Engineering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Instead of filling missing values with 0 or the average, we mathematically reconstructed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2286000" cy="4572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Fill missing Discounts with 0</a:t>
            </a:r>
            <a:br/>
            <a:r>
              <a:t>Cap discounts at 99% max</a:t>
            </a:r>
            <a:br/>
            <a:r>
              <a:t>(prevents division by zero)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377440"/>
            <a:ext cx="25603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49040" y="2514600"/>
            <a:ext cx="2286000" cy="4572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Reverse-engineer Revenue</a:t>
            </a:r>
            <a:br/>
            <a:r>
              <a:t>Revenue = Profit / 0.35</a:t>
            </a:r>
            <a:br/>
            <a:r>
              <a:t>(only for broken rows)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377440"/>
            <a:ext cx="25603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29400" y="2514600"/>
            <a:ext cx="2286000" cy="4572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Reverse-engineer Units Sold</a:t>
            </a:r>
            <a:br/>
            <a:r>
              <a:t>Units = Revenue / (MRP × (1 - Discount))</a:t>
            </a:r>
            <a:br/>
            <a:r>
              <a:t>(only for broken rows)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377440"/>
            <a:ext cx="25603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09760" y="2514600"/>
            <a:ext cx="2286000" cy="4572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Sanity check: if Units rounds</a:t>
            </a:r>
            <a:br/>
            <a:r>
              <a:t>to 0 but Revenue &gt; 0,</a:t>
            </a:r>
            <a:br/>
            <a:r>
              <a:t>force Units =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💡  Why is this method better?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The Profit column had zero missing values. By assuming a 35% profit margin, we used the only complete column to mathematically derive the missing Revenue and Units Sold — instead of guessing with zeros or averages.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After Cleaning —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7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Missing Values</a:t>
            </a:r>
            <a:br/>
            <a:r>
              <a:t>(core columns)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01168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7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Negative</a:t>
            </a:r>
            <a:br/>
            <a:r>
              <a:t>Units Sold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7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Negative</a:t>
            </a:r>
            <a:br/>
            <a:r>
              <a:t>Profit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011680"/>
            <a:ext cx="2560320" cy="1828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7B"/>
                </a:solidFill>
                <a:latin typeface="Calibri"/>
              </a:defRPr>
            </a:pPr>
            <a:r>
              <a:t>0.99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Max</a:t>
            </a:r>
            <a:br/>
            <a:r>
              <a:t>Discount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698480" cy="2194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Before vs After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Missing Values (core)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Calibri"/>
              </a:defRPr>
            </a:pPr>
            <a:r>
              <a:t>5,283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38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Negative Units Sold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138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Calibri"/>
              </a:defRPr>
            </a:pPr>
            <a:r>
              <a:t>205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138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31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Inconsistent Regions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431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Calibri"/>
              </a:defRPr>
            </a:pPr>
            <a:r>
              <a:t>497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431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6 clean cities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241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Mixed date formats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724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Calibri"/>
              </a:defRPr>
            </a:pPr>
            <a:r>
              <a:t>3 formats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724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1 standard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016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Zero Units +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6016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Calibri"/>
              </a:defRPr>
            </a:pPr>
            <a:r>
              <a:t>767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016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0 rows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AA"/>
                </a:solidFill>
                <a:latin typeface="Calibri"/>
              </a:defRPr>
            </a:pPr>
            <a:r>
              <a:t>Aggregations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3200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38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  <a:latin typeface="Calibri"/>
              </a:defRPr>
            </a:pPr>
            <a:r>
              <a:rPr lang="en-US" dirty="0"/>
              <a:t>$</a:t>
            </a:r>
            <a:r>
              <a:rPr dirty="0"/>
              <a:t>20,273,368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286000"/>
            <a:ext cx="3383280" cy="3200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Total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840480"/>
            <a:ext cx="338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FFF"/>
                </a:solidFill>
                <a:latin typeface="Calibri"/>
              </a:defRPr>
            </a:pPr>
            <a:r>
              <a:rPr lang="en-US" dirty="0"/>
              <a:t>$</a:t>
            </a:r>
            <a:r>
              <a:rPr dirty="0"/>
              <a:t>4,104,284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383280" cy="3200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Total Units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97B"/>
                </a:solidFill>
                <a:latin typeface="Calibri"/>
              </a:defRPr>
            </a:pPr>
            <a:r>
              <a:rPr dirty="0"/>
              <a:t>16,777.0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Best Product in Every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Each region has a different top-selling product based on total revenue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4DE80-77F1-5B1B-FEA5-9AE118649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024" y="1691093"/>
            <a:ext cx="9313888" cy="46182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Average Revenue by Discount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Impact of discount levels on average revenue per transaction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38BF0-C073-DDD2-F2A2-73C44AE5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783080"/>
            <a:ext cx="896902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Profit by Product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Total profit generated by each product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B46EE8-4C00-786C-05C5-1E8024D5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014" y="1645920"/>
            <a:ext cx="8853972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Most Popular Shoe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Distribution of units sold across shoe sizes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CCE5A-8A84-7806-A7B4-470844C20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45919"/>
            <a:ext cx="8988552" cy="48683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Clothing Size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Proportion of sales across clothing sizes (M, L, XL)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D23DA-54AE-6141-136E-C51B8F9E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45920"/>
            <a:ext cx="9409176" cy="4842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Revenue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Total revenue contribution from each 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627EB-3397-70A4-614C-20C9AF61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78809"/>
            <a:ext cx="10920984" cy="46305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Built with Plotly Dash — a fully interactive web-based analytics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🎯  Compare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Region, Gender, Product Name,</a:t>
            </a:r>
            <a:br/>
            <a:r>
              <a:t>Product Line, Sales Channel,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📊 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Revenue, Profit, Units Sold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38328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📈  Chart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Bar Chart, Pie Chart,</a:t>
            </a:r>
            <a:br/>
            <a:r>
              <a:t>Line Chart, Scatter Plot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The user selects any combination of comparison dimension, metric, and chart type using dropdown menus. The dashboard instantly re-renders the visualization using a Dash callback function, enabling real-time exploratory data analysis without writing any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1371600"/>
            <a:ext cx="393192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743200"/>
            <a:ext cx="758952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0" y="27889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DD"/>
                </a:solidFill>
                <a:latin typeface="Calibri"/>
              </a:defRPr>
            </a:pPr>
            <a:r>
              <a:t>Cleaned 5,283 data quality issues across 9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383280"/>
            <a:ext cx="758952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4290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DD"/>
                </a:solidFill>
                <a:latin typeface="Calibri"/>
              </a:defRPr>
            </a:pPr>
            <a:r>
              <a:t>Used advanced 3-column grouping for accurate price correction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023360"/>
            <a:ext cx="758952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40690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DD"/>
                </a:solidFill>
                <a:latin typeface="Calibri"/>
              </a:defRPr>
            </a:pPr>
            <a:r>
              <a:t>Reverse-engineered missing Revenue &amp; Units from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663440"/>
            <a:ext cx="758952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4709159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DD"/>
                </a:solidFill>
                <a:latin typeface="Calibri"/>
              </a:defRPr>
            </a:pPr>
            <a:r>
              <a:t>Built an interactive Dash dashboard for real-time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5669280"/>
            <a:ext cx="393192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2125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1132</Words>
  <Application>Microsoft Office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Abdullah Wehady</dc:creator>
  <cp:keywords/>
  <dc:description>generated using python-pptx</dc:description>
  <cp:lastModifiedBy>Abdullah Ahmed Mohamed Abdullah Abdelnaby</cp:lastModifiedBy>
  <cp:revision>22</cp:revision>
  <dcterms:created xsi:type="dcterms:W3CDTF">2013-01-27T09:14:16Z</dcterms:created>
  <dcterms:modified xsi:type="dcterms:W3CDTF">2026-06-26T19:12:42Z</dcterms:modified>
  <cp:category/>
</cp:coreProperties>
</file>